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f1ffe18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1f1ffe18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f1ffe181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1f1ffe181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71eb8a5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271eb8a5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71eb8a5cb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271eb8a5cb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271eb8a5c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271eb8a5c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271eb8a5cb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271eb8a5cb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271eb8a5c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271eb8a5c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playactivate.com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mailto:Caro.Scarbrough@theescapegame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Winter Socials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Games Group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7950" y="152400"/>
            <a:ext cx="6660442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3137100" y="2319600"/>
            <a:ext cx="801900" cy="43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Powergrid</a:t>
            </a:r>
            <a:br>
              <a:rPr lang="en" sz="1000"/>
            </a:br>
            <a:r>
              <a:rPr lang="en" sz="1000"/>
              <a:t>6 ppl</a:t>
            </a:r>
            <a:endParaRPr sz="1000"/>
          </a:p>
        </p:txBody>
      </p:sp>
      <p:sp>
        <p:nvSpPr>
          <p:cNvPr id="94" name="Google Shape;94;p14"/>
          <p:cNvSpPr/>
          <p:nvPr/>
        </p:nvSpPr>
        <p:spPr>
          <a:xfrm>
            <a:off x="7733000" y="3731275"/>
            <a:ext cx="931200" cy="470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AASA Xover, 20 ppl, Asian Snacks</a:t>
            </a:r>
            <a:endParaRPr sz="1000"/>
          </a:p>
        </p:txBody>
      </p:sp>
      <p:sp>
        <p:nvSpPr>
          <p:cNvPr id="95" name="Google Shape;95;p14"/>
          <p:cNvSpPr/>
          <p:nvPr/>
        </p:nvSpPr>
        <p:spPr>
          <a:xfrm>
            <a:off x="1986675" y="3009550"/>
            <a:ext cx="1185900" cy="4869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HP Codenames, homemade pizza, 6ppl</a:t>
            </a:r>
            <a:endParaRPr sz="1000"/>
          </a:p>
        </p:txBody>
      </p:sp>
      <p:sp>
        <p:nvSpPr>
          <p:cNvPr id="96" name="Google Shape;96;p14"/>
          <p:cNvSpPr/>
          <p:nvPr/>
        </p:nvSpPr>
        <p:spPr>
          <a:xfrm>
            <a:off x="3137100" y="4465000"/>
            <a:ext cx="801900" cy="43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Mario</a:t>
            </a:r>
            <a:r>
              <a:rPr lang="en" sz="1000"/>
              <a:t>, </a:t>
            </a:r>
            <a:br>
              <a:rPr lang="en" sz="1000"/>
            </a:br>
            <a:r>
              <a:rPr lang="en" sz="1000"/>
              <a:t>8 ppl</a:t>
            </a:r>
            <a:endParaRPr sz="1000"/>
          </a:p>
        </p:txBody>
      </p:sp>
      <p:sp>
        <p:nvSpPr>
          <p:cNvPr id="97" name="Google Shape;97;p14"/>
          <p:cNvSpPr/>
          <p:nvPr/>
        </p:nvSpPr>
        <p:spPr>
          <a:xfrm>
            <a:off x="799825" y="1505700"/>
            <a:ext cx="801900" cy="435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Hosted by Simran</a:t>
            </a:r>
            <a:endParaRPr sz="1000"/>
          </a:p>
        </p:txBody>
      </p:sp>
      <p:sp>
        <p:nvSpPr>
          <p:cNvPr id="98" name="Google Shape;98;p14"/>
          <p:cNvSpPr/>
          <p:nvPr/>
        </p:nvSpPr>
        <p:spPr>
          <a:xfrm>
            <a:off x="799825" y="2062525"/>
            <a:ext cx="801900" cy="43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Hosted by Gustavo</a:t>
            </a:r>
            <a:endParaRPr sz="1000"/>
          </a:p>
        </p:txBody>
      </p:sp>
      <p:sp>
        <p:nvSpPr>
          <p:cNvPr id="99" name="Google Shape;99;p14"/>
          <p:cNvSpPr/>
          <p:nvPr/>
        </p:nvSpPr>
        <p:spPr>
          <a:xfrm>
            <a:off x="799825" y="2619350"/>
            <a:ext cx="801900" cy="435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Hosted by Reza</a:t>
            </a:r>
            <a:endParaRPr sz="1000"/>
          </a:p>
        </p:txBody>
      </p:sp>
      <p:sp>
        <p:nvSpPr>
          <p:cNvPr id="100" name="Google Shape;100;p14"/>
          <p:cNvSpPr/>
          <p:nvPr/>
        </p:nvSpPr>
        <p:spPr>
          <a:xfrm>
            <a:off x="799825" y="3207050"/>
            <a:ext cx="801900" cy="43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Hosted by Emilio</a:t>
            </a:r>
            <a:endParaRPr sz="1000"/>
          </a:p>
        </p:txBody>
      </p:sp>
      <p:sp>
        <p:nvSpPr>
          <p:cNvPr id="101" name="Google Shape;101;p14"/>
          <p:cNvSpPr/>
          <p:nvPr/>
        </p:nvSpPr>
        <p:spPr>
          <a:xfrm>
            <a:off x="799825" y="3794750"/>
            <a:ext cx="801900" cy="43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Hosted by Laurino</a:t>
            </a:r>
            <a:endParaRPr sz="1000"/>
          </a:p>
        </p:txBody>
      </p:sp>
      <p:sp>
        <p:nvSpPr>
          <p:cNvPr id="102" name="Google Shape;102;p14"/>
          <p:cNvSpPr/>
          <p:nvPr/>
        </p:nvSpPr>
        <p:spPr>
          <a:xfrm>
            <a:off x="799825" y="4382450"/>
            <a:ext cx="801900" cy="43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Hosted by Jesse</a:t>
            </a:r>
            <a:endParaRPr sz="1000"/>
          </a:p>
        </p:txBody>
      </p:sp>
      <p:sp>
        <p:nvSpPr>
          <p:cNvPr id="103" name="Google Shape;103;p14"/>
          <p:cNvSpPr/>
          <p:nvPr/>
        </p:nvSpPr>
        <p:spPr>
          <a:xfrm>
            <a:off x="6107200" y="3041500"/>
            <a:ext cx="381000" cy="384000"/>
          </a:xfrm>
          <a:prstGeom prst="frame">
            <a:avLst>
              <a:gd fmla="val 12500" name="adj1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7066425" y="3041500"/>
            <a:ext cx="381000" cy="384000"/>
          </a:xfrm>
          <a:prstGeom prst="frame">
            <a:avLst>
              <a:gd fmla="val 12500" name="adj1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0113" y="219625"/>
            <a:ext cx="6760523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/>
          <p:nvPr/>
        </p:nvSpPr>
        <p:spPr>
          <a:xfrm>
            <a:off x="2054200" y="4647700"/>
            <a:ext cx="801900" cy="320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Puzzles,</a:t>
            </a:r>
            <a:r>
              <a:rPr lang="en" sz="1000"/>
              <a:t> </a:t>
            </a:r>
            <a:br>
              <a:rPr lang="en" sz="1000"/>
            </a:br>
            <a:r>
              <a:rPr lang="en" sz="1000"/>
              <a:t>12 ppl</a:t>
            </a:r>
            <a:endParaRPr sz="1000"/>
          </a:p>
        </p:txBody>
      </p:sp>
      <p:sp>
        <p:nvSpPr>
          <p:cNvPr id="111" name="Google Shape;111;p15"/>
          <p:cNvSpPr/>
          <p:nvPr/>
        </p:nvSpPr>
        <p:spPr>
          <a:xfrm>
            <a:off x="3970400" y="2253350"/>
            <a:ext cx="801900" cy="320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Avalon </a:t>
            </a:r>
            <a:br>
              <a:rPr lang="en" sz="1000"/>
            </a:br>
            <a:r>
              <a:rPr lang="en" sz="1000"/>
              <a:t>10 ppl</a:t>
            </a:r>
            <a:endParaRPr sz="1000"/>
          </a:p>
        </p:txBody>
      </p:sp>
      <p:sp>
        <p:nvSpPr>
          <p:cNvPr id="112" name="Google Shape;112;p15"/>
          <p:cNvSpPr/>
          <p:nvPr/>
        </p:nvSpPr>
        <p:spPr>
          <a:xfrm>
            <a:off x="3970400" y="2859725"/>
            <a:ext cx="801900" cy="320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TBD</a:t>
            </a:r>
            <a:r>
              <a:rPr lang="en" sz="1000"/>
              <a:t> </a:t>
            </a:r>
            <a:br>
              <a:rPr lang="en" sz="1000"/>
            </a:br>
            <a:r>
              <a:rPr lang="en" sz="1000"/>
              <a:t>10 ppl</a:t>
            </a:r>
            <a:endParaRPr sz="1000"/>
          </a:p>
        </p:txBody>
      </p:sp>
      <p:sp>
        <p:nvSpPr>
          <p:cNvPr id="113" name="Google Shape;113;p15"/>
          <p:cNvSpPr/>
          <p:nvPr/>
        </p:nvSpPr>
        <p:spPr>
          <a:xfrm>
            <a:off x="6678700" y="3454600"/>
            <a:ext cx="997500" cy="320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Party Games</a:t>
            </a:r>
            <a:r>
              <a:rPr lang="en" sz="1000"/>
              <a:t> </a:t>
            </a:r>
            <a:br>
              <a:rPr lang="en" sz="1000"/>
            </a:br>
            <a:r>
              <a:rPr lang="en" sz="1000"/>
              <a:t>20 ppl</a:t>
            </a:r>
            <a:endParaRPr sz="1000"/>
          </a:p>
        </p:txBody>
      </p:sp>
      <p:sp>
        <p:nvSpPr>
          <p:cNvPr id="114" name="Google Shape;114;p15"/>
          <p:cNvSpPr/>
          <p:nvPr/>
        </p:nvSpPr>
        <p:spPr>
          <a:xfrm>
            <a:off x="2902925" y="4044025"/>
            <a:ext cx="997500" cy="320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Light Strategy</a:t>
            </a:r>
            <a:r>
              <a:rPr lang="en" sz="1000"/>
              <a:t> </a:t>
            </a:r>
            <a:br>
              <a:rPr lang="en" sz="1000"/>
            </a:br>
            <a:r>
              <a:rPr lang="en" sz="1000"/>
              <a:t>10 ppl</a:t>
            </a:r>
            <a:endParaRPr sz="1000"/>
          </a:p>
        </p:txBody>
      </p:sp>
      <p:sp>
        <p:nvSpPr>
          <p:cNvPr id="115" name="Google Shape;115;p15"/>
          <p:cNvSpPr/>
          <p:nvPr/>
        </p:nvSpPr>
        <p:spPr>
          <a:xfrm>
            <a:off x="6077600" y="2686350"/>
            <a:ext cx="366552" cy="435294"/>
          </a:xfrm>
          <a:prstGeom prst="lightningBol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799825" y="1505700"/>
            <a:ext cx="801900" cy="435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Hosted by Simran</a:t>
            </a:r>
            <a:endParaRPr sz="1000"/>
          </a:p>
        </p:txBody>
      </p:sp>
      <p:sp>
        <p:nvSpPr>
          <p:cNvPr id="117" name="Google Shape;117;p15"/>
          <p:cNvSpPr/>
          <p:nvPr/>
        </p:nvSpPr>
        <p:spPr>
          <a:xfrm>
            <a:off x="799825" y="2062525"/>
            <a:ext cx="801900" cy="435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Hosted by Gustavo</a:t>
            </a:r>
            <a:endParaRPr sz="1000"/>
          </a:p>
        </p:txBody>
      </p:sp>
      <p:sp>
        <p:nvSpPr>
          <p:cNvPr id="118" name="Google Shape;118;p15"/>
          <p:cNvSpPr/>
          <p:nvPr/>
        </p:nvSpPr>
        <p:spPr>
          <a:xfrm>
            <a:off x="799825" y="2619350"/>
            <a:ext cx="801900" cy="435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Hosted by Reza</a:t>
            </a:r>
            <a:endParaRPr sz="1000"/>
          </a:p>
        </p:txBody>
      </p:sp>
      <p:sp>
        <p:nvSpPr>
          <p:cNvPr id="119" name="Google Shape;119;p15"/>
          <p:cNvSpPr/>
          <p:nvPr/>
        </p:nvSpPr>
        <p:spPr>
          <a:xfrm>
            <a:off x="799825" y="3207050"/>
            <a:ext cx="801900" cy="435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Hosted by Emilio</a:t>
            </a:r>
            <a:endParaRPr sz="1000"/>
          </a:p>
        </p:txBody>
      </p:sp>
      <p:sp>
        <p:nvSpPr>
          <p:cNvPr id="120" name="Google Shape;120;p15"/>
          <p:cNvSpPr/>
          <p:nvPr/>
        </p:nvSpPr>
        <p:spPr>
          <a:xfrm>
            <a:off x="799825" y="3794750"/>
            <a:ext cx="801900" cy="43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Hosted by Laurino</a:t>
            </a:r>
            <a:endParaRPr sz="1000"/>
          </a:p>
        </p:txBody>
      </p:sp>
      <p:sp>
        <p:nvSpPr>
          <p:cNvPr id="121" name="Google Shape;121;p15"/>
          <p:cNvSpPr/>
          <p:nvPr/>
        </p:nvSpPr>
        <p:spPr>
          <a:xfrm>
            <a:off x="799825" y="4382450"/>
            <a:ext cx="801900" cy="435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Hosted by Jesse</a:t>
            </a:r>
            <a:endParaRPr sz="1000"/>
          </a:p>
        </p:txBody>
      </p:sp>
      <p:sp>
        <p:nvSpPr>
          <p:cNvPr id="122" name="Google Shape;122;p15"/>
          <p:cNvSpPr/>
          <p:nvPr/>
        </p:nvSpPr>
        <p:spPr>
          <a:xfrm>
            <a:off x="3000725" y="1666800"/>
            <a:ext cx="801900" cy="320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Mario, </a:t>
            </a:r>
            <a:br>
              <a:rPr lang="en" sz="1000"/>
            </a:br>
            <a:r>
              <a:rPr lang="en" sz="1000"/>
              <a:t>8 ppl</a:t>
            </a: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Escape Rooms - Winter 2025 - Organized by Simran</a:t>
            </a:r>
            <a:endParaRPr/>
          </a:p>
        </p:txBody>
      </p:sp>
      <p:sp>
        <p:nvSpPr>
          <p:cNvPr id="128" name="Google Shape;128;p16"/>
          <p:cNvSpPr txBox="1"/>
          <p:nvPr>
            <p:ph idx="1" type="body"/>
          </p:nvPr>
        </p:nvSpPr>
        <p:spPr>
          <a:xfrm>
            <a:off x="691500" y="1918475"/>
            <a:ext cx="77646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7"/>
              <a:t>Date/Times Winter Quarter:</a:t>
            </a:r>
            <a:endParaRPr sz="1407"/>
          </a:p>
          <a:p>
            <a:pPr indent="-31797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8"/>
              <a:buChar char="-"/>
            </a:pPr>
            <a:r>
              <a:rPr lang="en" sz="1407"/>
              <a:t>Thursday 1/16 1:40pm - Mysterious Market (5 people)</a:t>
            </a:r>
            <a:endParaRPr sz="1407"/>
          </a:p>
          <a:p>
            <a:pPr indent="-31797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8"/>
              <a:buChar char="-"/>
            </a:pPr>
            <a:r>
              <a:rPr lang="en" sz="1407"/>
              <a:t>Friday 1/17 11:00am - Prison Break (4 people)</a:t>
            </a:r>
            <a:endParaRPr sz="1407"/>
          </a:p>
          <a:p>
            <a:pPr indent="-31797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8"/>
              <a:buChar char="-"/>
            </a:pPr>
            <a:r>
              <a:rPr lang="en" sz="1407"/>
              <a:t>Friday 1/17 11:00am - Mysterious Market (4 people)</a:t>
            </a:r>
            <a:endParaRPr sz="1407"/>
          </a:p>
          <a:p>
            <a:pPr indent="-31797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8"/>
              <a:buChar char="-"/>
            </a:pPr>
            <a:r>
              <a:rPr lang="en" sz="1407"/>
              <a:t>Friday 1/17 11:20am - The Heist (4 people)</a:t>
            </a:r>
            <a:endParaRPr sz="1407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br>
              <a:rPr lang="en" sz="1407"/>
            </a:br>
            <a:r>
              <a:rPr lang="en" sz="1407"/>
              <a:t>Official Ratings:</a:t>
            </a:r>
            <a:endParaRPr sz="1407"/>
          </a:p>
          <a:p>
            <a:pPr indent="-31797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8"/>
              <a:buChar char="-"/>
            </a:pPr>
            <a:r>
              <a:rPr lang="en" sz="1407"/>
              <a:t>Gold Rush = 7/10 difficulty</a:t>
            </a:r>
            <a:endParaRPr sz="1407"/>
          </a:p>
          <a:p>
            <a:pPr indent="-31797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8"/>
              <a:buChar char="-"/>
            </a:pPr>
            <a:r>
              <a:rPr lang="en" sz="1407"/>
              <a:t>Mysterious Market, The Heist,</a:t>
            </a:r>
            <a:r>
              <a:rPr lang="en" sz="1407"/>
              <a:t> Mission Mars**</a:t>
            </a:r>
            <a:r>
              <a:rPr lang="en" sz="1407"/>
              <a:t> = 8/10 difficulty</a:t>
            </a:r>
            <a:endParaRPr sz="1407"/>
          </a:p>
          <a:p>
            <a:pPr indent="-31797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8"/>
              <a:buChar char="-"/>
            </a:pPr>
            <a:r>
              <a:rPr lang="en" sz="1407"/>
              <a:t>Prison Break = 9/10 difficulty</a:t>
            </a:r>
            <a:endParaRPr sz="1407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rPr lang="en" sz="1407"/>
              <a:t>** Mission Mars felt easier – like a 6 or 7 out of 10; Mysterious Market felt harder (9/10)</a:t>
            </a:r>
            <a:endParaRPr sz="1407"/>
          </a:p>
        </p:txBody>
      </p:sp>
      <p:sp>
        <p:nvSpPr>
          <p:cNvPr id="129" name="Google Shape;129;p16"/>
          <p:cNvSpPr/>
          <p:nvPr/>
        </p:nvSpPr>
        <p:spPr>
          <a:xfrm>
            <a:off x="268925" y="800325"/>
            <a:ext cx="381000" cy="384000"/>
          </a:xfrm>
          <a:prstGeom prst="frame">
            <a:avLst>
              <a:gd fmla="val 12500" name="adj1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Activate - Winter 2025 - Led by Simran</a:t>
            </a:r>
            <a:endParaRPr/>
          </a:p>
        </p:txBody>
      </p:sp>
      <p:sp>
        <p:nvSpPr>
          <p:cNvPr id="135" name="Google Shape;135;p17"/>
          <p:cNvSpPr txBox="1"/>
          <p:nvPr>
            <p:ph idx="1" type="body"/>
          </p:nvPr>
        </p:nvSpPr>
        <p:spPr>
          <a:xfrm>
            <a:off x="729450" y="2078875"/>
            <a:ext cx="7764600" cy="27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407" u="sng">
                <a:solidFill>
                  <a:schemeClr val="hlink"/>
                </a:solidFill>
                <a:hlinkClick r:id="rId3"/>
              </a:rPr>
              <a:t>https://playactivate.com/</a:t>
            </a:r>
            <a:endParaRPr sz="1407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407"/>
              <a:t>13 people per reservation</a:t>
            </a:r>
            <a:endParaRPr sz="1407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rPr lang="en" sz="1407"/>
              <a:t>$25/person – charge $15 for members</a:t>
            </a:r>
            <a:endParaRPr sz="1407"/>
          </a:p>
        </p:txBody>
      </p:sp>
      <p:sp>
        <p:nvSpPr>
          <p:cNvPr id="136" name="Google Shape;136;p17"/>
          <p:cNvSpPr/>
          <p:nvPr/>
        </p:nvSpPr>
        <p:spPr>
          <a:xfrm>
            <a:off x="277575" y="828875"/>
            <a:ext cx="366552" cy="435294"/>
          </a:xfrm>
          <a:prstGeom prst="lightningBol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 Group Game Nights</a:t>
            </a:r>
            <a:endParaRPr/>
          </a:p>
        </p:txBody>
      </p:sp>
      <p:sp>
        <p:nvSpPr>
          <p:cNvPr id="147" name="Google Shape;147;p19"/>
          <p:cNvSpPr txBox="1"/>
          <p:nvPr>
            <p:ph idx="1" type="body"/>
          </p:nvPr>
        </p:nvSpPr>
        <p:spPr>
          <a:xfrm>
            <a:off x="1666875" y="1939025"/>
            <a:ext cx="7182000" cy="28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Setup weekly game nights, $30-40 budget for snacks for groups up to 10 ppl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No alcohol (different rules/forms/etc. through student life)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For groups bigger than 10, snack budget to be increased to $50-60</a:t>
            </a:r>
            <a:br>
              <a:rPr lang="en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All weekly game nights will mention the game(s) or types of games that will be played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Offer variety of game types/games and also have a few video game nights per quarter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Offer game nights different nights of the week (not just one day)</a:t>
            </a:r>
            <a:br>
              <a:rPr lang="en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Each games co-chair will host at least one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At least one event per week (can skip small group game night the weeks we have larger events if needed)</a:t>
            </a:r>
            <a:endParaRPr sz="1400"/>
          </a:p>
        </p:txBody>
      </p:sp>
      <p:sp>
        <p:nvSpPr>
          <p:cNvPr id="148" name="Google Shape;148;p19"/>
          <p:cNvSpPr/>
          <p:nvPr/>
        </p:nvSpPr>
        <p:spPr>
          <a:xfrm>
            <a:off x="578125" y="2194125"/>
            <a:ext cx="1023600" cy="517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Food &amp; Drinks</a:t>
            </a:r>
            <a:endParaRPr sz="1100"/>
          </a:p>
        </p:txBody>
      </p:sp>
      <p:sp>
        <p:nvSpPr>
          <p:cNvPr id="149" name="Google Shape;149;p19"/>
          <p:cNvSpPr/>
          <p:nvPr/>
        </p:nvSpPr>
        <p:spPr>
          <a:xfrm>
            <a:off x="578300" y="3074025"/>
            <a:ext cx="1023600" cy="5172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Variety &amp; Accessibility</a:t>
            </a:r>
            <a:endParaRPr sz="1100"/>
          </a:p>
        </p:txBody>
      </p:sp>
      <p:sp>
        <p:nvSpPr>
          <p:cNvPr id="150" name="Google Shape;150;p19"/>
          <p:cNvSpPr/>
          <p:nvPr/>
        </p:nvSpPr>
        <p:spPr>
          <a:xfrm>
            <a:off x="578125" y="4002750"/>
            <a:ext cx="1023600" cy="5172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Co-Chair Duties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Escape Rooms</a:t>
            </a:r>
            <a:endParaRPr/>
          </a:p>
        </p:txBody>
      </p:sp>
      <p:sp>
        <p:nvSpPr>
          <p:cNvPr id="156" name="Google Shape;156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The Escape Game contact: </a:t>
            </a:r>
            <a:endParaRPr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Caro Scarbrough: </a:t>
            </a:r>
            <a:r>
              <a:rPr lang="en" sz="1700" u="sng">
                <a:solidFill>
                  <a:schemeClr val="hlink"/>
                </a:solidFill>
                <a:hlinkClick r:id="rId3"/>
              </a:rPr>
              <a:t>Caro.Scarbrough@theescapegame.com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Historically given rates of $26/person during weekdays before 5pm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charge $15 for members, $30 for non-members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6 people to reserve a room but we’ve been able to get away with booking fewer per room and taking the risk no one else will book because they’re odd times</a:t>
            </a:r>
            <a:endParaRPr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