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embeddedFontLst>
    <p:embeddedFont>
      <p:font typeface="Proxima Nova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Alfa Slab One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Divakar Saxen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7546E1-30CF-4496-A1F6-34540F292144}">
  <a:tblStyle styleId="{5E7546E1-30CF-4496-A1F6-34540F2921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4.xml"/><Relationship Id="rId22" Type="http://schemas.openxmlformats.org/officeDocument/2006/relationships/font" Target="fonts/AlfaSlabOne-regular.fntdata"/><Relationship Id="rId10" Type="http://schemas.openxmlformats.org/officeDocument/2006/relationships/slide" Target="slides/slide3.xml"/><Relationship Id="rId21" Type="http://schemas.openxmlformats.org/officeDocument/2006/relationships/font" Target="fonts/Lato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font" Target="fonts/ProximaNova-bold.fntdata"/><Relationship Id="rId14" Type="http://schemas.openxmlformats.org/officeDocument/2006/relationships/font" Target="fonts/ProximaNova-regular.fntdata"/><Relationship Id="rId17" Type="http://schemas.openxmlformats.org/officeDocument/2006/relationships/font" Target="fonts/ProximaNova-boldItalic.fntdata"/><Relationship Id="rId16" Type="http://schemas.openxmlformats.org/officeDocument/2006/relationships/font" Target="fonts/ProximaNova-italic.fntdata"/><Relationship Id="rId5" Type="http://schemas.openxmlformats.org/officeDocument/2006/relationships/commentAuthors" Target="commentAuthors.xml"/><Relationship Id="rId19" Type="http://schemas.openxmlformats.org/officeDocument/2006/relationships/font" Target="fonts/Lato-bold.fntdata"/><Relationship Id="rId6" Type="http://schemas.openxmlformats.org/officeDocument/2006/relationships/slideMaster" Target="slideMasters/slideMaster1.xml"/><Relationship Id="rId18" Type="http://schemas.openxmlformats.org/officeDocument/2006/relationships/font" Target="fonts/Lato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9-14T14:22:21.664">
    <p:pos x="744" y="1440"/>
    <p:text>Members - Free
Non-Members - $10</p:text>
  </p:cm>
  <p:cm authorId="0" idx="2" dt="2025-09-14T14:13:48.321">
    <p:pos x="744" y="1540"/>
    <p:text>Mario Kart on the projector. Small party games on the side. Food</p:text>
  </p:cm>
  <p:cm authorId="0" idx="3" dt="2025-09-14T14:24:30.243">
    <p:pos x="744" y="1640"/>
    <p:text>Logistics finalized by Sept 28th</p:text>
  </p:cm>
  <p:cm authorId="0" idx="4" dt="2025-09-14T14:29:05.703">
    <p:pos x="729" y="2282"/>
    <p:text>Divakar + Riti - Find 3 places for the event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4a613b2a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84a613b2a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530bb2e4d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530bb2e4d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530bb2e4d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530bb2e4d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530bb2e4d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530bb2e4d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530bb2e4d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530bb2e4d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2025 Events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Booth Games Group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Guidelines for “chill” game nights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●"/>
            </a:pPr>
            <a:r>
              <a:rPr lang="en" sz="14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Creating the event in Booth Groups</a:t>
            </a:r>
            <a:endParaRPr sz="14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○"/>
            </a:pPr>
            <a:r>
              <a:rPr lang="en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Registration opens three weeks before the event and closes one day prior at 10pm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○"/>
            </a:pPr>
            <a:r>
              <a:rPr lang="en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Cancellations are available until three days before the event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○"/>
            </a:pPr>
            <a:r>
              <a:rPr lang="en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Target attendance should be 6-10 people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○"/>
            </a:pPr>
            <a:r>
              <a:rPr lang="en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Send reminder two days prior with following message: </a:t>
            </a:r>
            <a:r>
              <a:rPr i="1" lang="en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“We look forward to seeing you then! Please let the host know if you can no longer attend or will be late.”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○"/>
            </a:pPr>
            <a:r>
              <a:rPr lang="en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Event should run for at least 90 minutes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●"/>
            </a:pPr>
            <a:r>
              <a:rPr lang="en" sz="14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Food and drinks</a:t>
            </a:r>
            <a:endParaRPr sz="14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○"/>
            </a:pPr>
            <a:r>
              <a:rPr lang="en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Budget of $3 per attendee; no alcohol (requires additional forms &amp; rules by Student Life)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●"/>
            </a:pPr>
            <a:r>
              <a:rPr lang="en" sz="14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Co-chair responsibilities</a:t>
            </a:r>
            <a:endParaRPr sz="14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○"/>
            </a:pPr>
            <a:r>
              <a:rPr lang="en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Each co-chair must host at least one game night per quarter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○"/>
            </a:pPr>
            <a:r>
              <a:rPr lang="en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Organize one game night per week (can skip weeks with larger Games Group events)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September</a:t>
            </a:r>
            <a:endParaRPr/>
          </a:p>
        </p:txBody>
      </p:sp>
      <p:graphicFrame>
        <p:nvGraphicFramePr>
          <p:cNvPr id="69" name="Google Shape;69;p15"/>
          <p:cNvGraphicFramePr/>
          <p:nvPr/>
        </p:nvGraphicFramePr>
        <p:xfrm>
          <a:off x="1071825" y="97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{5E7546E1-30CF-4496-A1F6-34540F292144}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0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Sun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Tue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Wed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Thu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Fri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Sat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6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31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6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6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6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6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1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2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3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4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7551" y="4770651"/>
            <a:ext cx="1361473" cy="3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2182350" y="4269075"/>
            <a:ext cx="874800" cy="344100"/>
          </a:xfrm>
          <a:prstGeom prst="roundRect">
            <a:avLst>
              <a:gd fmla="val 16667" name="adj"/>
            </a:avLst>
          </a:prstGeom>
          <a:solidFill>
            <a:srgbClr val="800000"/>
          </a:solidFill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Fall quarter begins</a:t>
            </a:r>
            <a:endParaRPr sz="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3243675" y="4269075"/>
            <a:ext cx="874800" cy="344100"/>
          </a:xfrm>
          <a:prstGeom prst="roundRect">
            <a:avLst>
              <a:gd fmla="val 16667" name="adj"/>
            </a:avLst>
          </a:prstGeom>
          <a:solidFill>
            <a:srgbClr val="800000"/>
          </a:solidFill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Student Group Activities Fair</a:t>
            </a:r>
            <a:endParaRPr sz="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73" name="Google Shape;73;p15"/>
          <p:cNvGrpSpPr/>
          <p:nvPr/>
        </p:nvGrpSpPr>
        <p:grpSpPr>
          <a:xfrm>
            <a:off x="4877438" y="475888"/>
            <a:ext cx="3433438" cy="457663"/>
            <a:chOff x="2985825" y="475888"/>
            <a:chExt cx="3433438" cy="457663"/>
          </a:xfrm>
        </p:grpSpPr>
        <p:sp>
          <p:nvSpPr>
            <p:cNvPr id="74" name="Google Shape;74;p15"/>
            <p:cNvSpPr/>
            <p:nvPr/>
          </p:nvSpPr>
          <p:spPr>
            <a:xfrm>
              <a:off x="3834919" y="475888"/>
              <a:ext cx="801900" cy="209400"/>
            </a:xfrm>
            <a:prstGeom prst="rect">
              <a:avLst/>
            </a:prstGeom>
            <a:solidFill>
              <a:srgbClr val="A4C2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Aakash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4726141" y="475888"/>
              <a:ext cx="801900" cy="2094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Divakar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5617363" y="475888"/>
              <a:ext cx="801900" cy="209400"/>
            </a:xfrm>
            <a:prstGeom prst="rect">
              <a:avLst/>
            </a:pr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Miral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3834919" y="724150"/>
              <a:ext cx="801900" cy="2094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Riti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4726141" y="724150"/>
              <a:ext cx="801900" cy="209400"/>
            </a:xfrm>
            <a:prstGeom prst="rect">
              <a:avLst/>
            </a:prstGeom>
            <a:solidFill>
              <a:srgbClr val="F9C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Saman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2985825" y="603838"/>
              <a:ext cx="822900" cy="2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Hosted by: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5617363" y="724150"/>
              <a:ext cx="801900" cy="209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TBD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October</a:t>
            </a:r>
            <a:endParaRPr/>
          </a:p>
        </p:txBody>
      </p:sp>
      <p:graphicFrame>
        <p:nvGraphicFramePr>
          <p:cNvPr id="86" name="Google Shape;86;p16"/>
          <p:cNvGraphicFramePr/>
          <p:nvPr/>
        </p:nvGraphicFramePr>
        <p:xfrm>
          <a:off x="1071825" y="97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{5E7546E1-30CF-4496-A1F6-34540F292144}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0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Sun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Tue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Wed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Thu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Fri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Sat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6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28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29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30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6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6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18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6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25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6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1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87" name="Google Shape;8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7551" y="4770651"/>
            <a:ext cx="1361473" cy="3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/>
          <p:nvPr/>
        </p:nvSpPr>
        <p:spPr>
          <a:xfrm>
            <a:off x="5280236" y="2286300"/>
            <a:ext cx="874800" cy="344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Chill game night (TBD)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2165975" y="1637425"/>
            <a:ext cx="874800" cy="344100"/>
          </a:xfrm>
          <a:prstGeom prst="roundRect">
            <a:avLst>
              <a:gd fmla="val 16667" name="adj"/>
            </a:avLst>
          </a:prstGeom>
          <a:solidFill>
            <a:srgbClr val="800000"/>
          </a:solidFill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Fall quarter begins</a:t>
            </a:r>
            <a:endParaRPr sz="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3227300" y="1637425"/>
            <a:ext cx="874800" cy="344100"/>
          </a:xfrm>
          <a:prstGeom prst="roundRect">
            <a:avLst>
              <a:gd fmla="val 16667" name="adj"/>
            </a:avLst>
          </a:prstGeom>
          <a:solidFill>
            <a:srgbClr val="800000"/>
          </a:solidFill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Student Group Activities Fair</a:t>
            </a:r>
            <a:endParaRPr sz="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2165975" y="2961975"/>
            <a:ext cx="874800" cy="344100"/>
          </a:xfrm>
          <a:prstGeom prst="roundRect">
            <a:avLst>
              <a:gd fmla="val 16667" name="adj"/>
            </a:avLst>
          </a:prstGeom>
          <a:solidFill>
            <a:srgbClr val="800000"/>
          </a:solidFill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Recruiting events begin</a:t>
            </a:r>
            <a:endParaRPr sz="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6330550" y="2961975"/>
            <a:ext cx="874800" cy="344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Chill game night (Taboo)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253950" y="3627575"/>
            <a:ext cx="874800" cy="3441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Chill game night (Spirit Island)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3227300" y="4269825"/>
            <a:ext cx="874800" cy="344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Chill game night (Card Games)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182377" y="2286300"/>
            <a:ext cx="874800" cy="344100"/>
          </a:xfrm>
          <a:prstGeom prst="roundRect">
            <a:avLst>
              <a:gd fmla="val 16667" name="adj"/>
            </a:avLst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Larger kickoff event? Meet-n-Greet 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1157875" y="3623075"/>
            <a:ext cx="874800" cy="344100"/>
          </a:xfrm>
          <a:prstGeom prst="roundRect">
            <a:avLst>
              <a:gd fmla="val 16667" name="adj"/>
            </a:avLst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Outdoor mini golf?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6330538" y="4284175"/>
            <a:ext cx="874800" cy="344100"/>
          </a:xfrm>
          <a:prstGeom prst="roundRect">
            <a:avLst>
              <a:gd fmla="val 16667" name="adj"/>
            </a:avLst>
          </a:prstGeom>
          <a:solidFill>
            <a:srgbClr val="800000"/>
          </a:solidFill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Halloween Party?</a:t>
            </a:r>
            <a:endParaRPr sz="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7350013" y="3627575"/>
            <a:ext cx="874800" cy="344100"/>
          </a:xfrm>
          <a:prstGeom prst="roundRect">
            <a:avLst>
              <a:gd fmla="val 16667" name="adj"/>
            </a:avLst>
          </a:prstGeom>
          <a:solidFill>
            <a:srgbClr val="800000"/>
          </a:solidFill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Diwali Cruise</a:t>
            </a:r>
            <a:endParaRPr sz="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99" name="Google Shape;99;p16"/>
          <p:cNvGrpSpPr/>
          <p:nvPr/>
        </p:nvGrpSpPr>
        <p:grpSpPr>
          <a:xfrm>
            <a:off x="4877438" y="475888"/>
            <a:ext cx="3433438" cy="457663"/>
            <a:chOff x="2985825" y="475888"/>
            <a:chExt cx="3433438" cy="457663"/>
          </a:xfrm>
        </p:grpSpPr>
        <p:sp>
          <p:nvSpPr>
            <p:cNvPr id="100" name="Google Shape;100;p16"/>
            <p:cNvSpPr/>
            <p:nvPr/>
          </p:nvSpPr>
          <p:spPr>
            <a:xfrm>
              <a:off x="3834919" y="475888"/>
              <a:ext cx="801900" cy="209400"/>
            </a:xfrm>
            <a:prstGeom prst="rect">
              <a:avLst/>
            </a:prstGeom>
            <a:solidFill>
              <a:srgbClr val="A4C2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Aakash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4726141" y="475888"/>
              <a:ext cx="801900" cy="2094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Divakar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5617363" y="475888"/>
              <a:ext cx="801900" cy="209400"/>
            </a:xfrm>
            <a:prstGeom prst="rect">
              <a:avLst/>
            </a:pr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Miral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3834919" y="724150"/>
              <a:ext cx="801900" cy="2094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Riti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4726141" y="724150"/>
              <a:ext cx="801900" cy="209400"/>
            </a:xfrm>
            <a:prstGeom prst="rect">
              <a:avLst/>
            </a:prstGeom>
            <a:solidFill>
              <a:srgbClr val="F9C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Saman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05" name="Google Shape;105;p16"/>
            <p:cNvSpPr txBox="1"/>
            <p:nvPr/>
          </p:nvSpPr>
          <p:spPr>
            <a:xfrm>
              <a:off x="2985825" y="603838"/>
              <a:ext cx="822900" cy="2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Hosted by: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5617363" y="724150"/>
              <a:ext cx="801900" cy="209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TBD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07" name="Google Shape;107;p16"/>
          <p:cNvSpPr/>
          <p:nvPr/>
        </p:nvSpPr>
        <p:spPr>
          <a:xfrm>
            <a:off x="311700" y="1447175"/>
            <a:ext cx="841200" cy="911400"/>
          </a:xfrm>
          <a:prstGeom prst="wedgeRoundRectCallout">
            <a:avLst>
              <a:gd fmla="val -49308" name="adj1"/>
              <a:gd fmla="val 67182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Larger game night/social at NBC, Snakes &amp; Lattes, CAA Game Room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4253950" y="1637425"/>
            <a:ext cx="874800" cy="3441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Chill game night (Strategy)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November</a:t>
            </a:r>
            <a:endParaRPr/>
          </a:p>
        </p:txBody>
      </p:sp>
      <p:graphicFrame>
        <p:nvGraphicFramePr>
          <p:cNvPr id="114" name="Google Shape;114;p17"/>
          <p:cNvGraphicFramePr/>
          <p:nvPr/>
        </p:nvGraphicFramePr>
        <p:xfrm>
          <a:off x="1071825" y="96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{5E7546E1-30CF-4496-A1F6-34540F292144}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0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Sun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Tue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Wed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Thu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Fri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Sat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24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26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27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28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29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30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31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6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6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6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22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6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29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12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1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2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3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4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5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6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15" name="Google Shape;115;p17"/>
          <p:cNvSpPr/>
          <p:nvPr/>
        </p:nvSpPr>
        <p:spPr>
          <a:xfrm>
            <a:off x="2182350" y="3977125"/>
            <a:ext cx="6064800" cy="233400"/>
          </a:xfrm>
          <a:prstGeom prst="roundRect">
            <a:avLst>
              <a:gd fmla="val 16667" name="adj"/>
            </a:avLst>
          </a:prstGeom>
          <a:solidFill>
            <a:srgbClr val="800000"/>
          </a:solidFill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Thanksgiving Break</a:t>
            </a:r>
            <a:endParaRPr sz="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7551" y="4770651"/>
            <a:ext cx="1361473" cy="3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6336575" y="1978913"/>
            <a:ext cx="874800" cy="3441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Chill game night (Social deduction)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3238713" y="2647200"/>
            <a:ext cx="874800" cy="344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Chill game night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2182338" y="3284200"/>
            <a:ext cx="874800" cy="344100"/>
          </a:xfrm>
          <a:prstGeom prst="roundRect">
            <a:avLst>
              <a:gd fmla="val 16667" name="adj"/>
            </a:avLst>
          </a:prstGeom>
          <a:solidFill>
            <a:srgbClr val="F3CCCB"/>
          </a:solidFill>
          <a:ln cap="flat" cmpd="sng" w="9525">
            <a:solidFill>
              <a:srgbClr val="F3C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Chill game night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5303365" y="3284200"/>
            <a:ext cx="1908000" cy="3441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Escape Room (1 per day)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21" name="Google Shape;121;p17"/>
          <p:cNvGrpSpPr/>
          <p:nvPr/>
        </p:nvGrpSpPr>
        <p:grpSpPr>
          <a:xfrm>
            <a:off x="4877438" y="475888"/>
            <a:ext cx="3433438" cy="457663"/>
            <a:chOff x="2985825" y="475888"/>
            <a:chExt cx="3433438" cy="457663"/>
          </a:xfrm>
        </p:grpSpPr>
        <p:sp>
          <p:nvSpPr>
            <p:cNvPr id="122" name="Google Shape;122;p17"/>
            <p:cNvSpPr/>
            <p:nvPr/>
          </p:nvSpPr>
          <p:spPr>
            <a:xfrm>
              <a:off x="3834919" y="475888"/>
              <a:ext cx="801900" cy="209400"/>
            </a:xfrm>
            <a:prstGeom prst="rect">
              <a:avLst/>
            </a:prstGeom>
            <a:solidFill>
              <a:srgbClr val="A4C2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Aakash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4726141" y="475888"/>
              <a:ext cx="801900" cy="2094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Divakar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5617363" y="475888"/>
              <a:ext cx="801900" cy="209400"/>
            </a:xfrm>
            <a:prstGeom prst="rect">
              <a:avLst/>
            </a:pr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Miral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3834919" y="724150"/>
              <a:ext cx="801900" cy="2094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Riti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4726141" y="724150"/>
              <a:ext cx="801900" cy="209400"/>
            </a:xfrm>
            <a:prstGeom prst="rect">
              <a:avLst/>
            </a:prstGeom>
            <a:solidFill>
              <a:srgbClr val="F9C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Saman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2985825" y="603838"/>
              <a:ext cx="822900" cy="2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Hosted by: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5617363" y="724150"/>
              <a:ext cx="801900" cy="209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TBD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29" name="Google Shape;129;p17"/>
          <p:cNvSpPr/>
          <p:nvPr/>
        </p:nvSpPr>
        <p:spPr>
          <a:xfrm>
            <a:off x="7372350" y="2647200"/>
            <a:ext cx="874800" cy="3441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Mkart Tourney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December</a:t>
            </a:r>
            <a:endParaRPr/>
          </a:p>
        </p:txBody>
      </p:sp>
      <p:graphicFrame>
        <p:nvGraphicFramePr>
          <p:cNvPr id="135" name="Google Shape;135;p18"/>
          <p:cNvGraphicFramePr/>
          <p:nvPr/>
        </p:nvGraphicFramePr>
        <p:xfrm>
          <a:off x="1071825" y="97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{5E7546E1-30CF-4496-A1F6-34540F292144}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0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Sun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Tue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Wed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Thu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Fri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Sat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6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30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6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6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6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27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65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1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2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3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136" name="Google Shape;13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7551" y="4770651"/>
            <a:ext cx="1361473" cy="3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/>
          <p:nvPr/>
        </p:nvSpPr>
        <p:spPr>
          <a:xfrm>
            <a:off x="2188175" y="2338350"/>
            <a:ext cx="5026800" cy="233400"/>
          </a:xfrm>
          <a:prstGeom prst="roundRect">
            <a:avLst>
              <a:gd fmla="val 16667" name="adj"/>
            </a:avLst>
          </a:prstGeom>
          <a:solidFill>
            <a:srgbClr val="800000"/>
          </a:solidFill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Exam week</a:t>
            </a:r>
            <a:endParaRPr sz="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7347888" y="2283000"/>
            <a:ext cx="874800" cy="344100"/>
          </a:xfrm>
          <a:prstGeom prst="roundRect">
            <a:avLst>
              <a:gd fmla="val 16667" name="adj"/>
            </a:avLst>
          </a:prstGeom>
          <a:solidFill>
            <a:srgbClr val="800000"/>
          </a:solidFill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Fall quarter ends</a:t>
            </a:r>
            <a:endParaRPr sz="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4253938" y="1622200"/>
            <a:ext cx="874800" cy="344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Chill game night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40" name="Google Shape;140;p18"/>
          <p:cNvGrpSpPr/>
          <p:nvPr/>
        </p:nvGrpSpPr>
        <p:grpSpPr>
          <a:xfrm>
            <a:off x="4877438" y="475888"/>
            <a:ext cx="3433438" cy="457663"/>
            <a:chOff x="2985825" y="475888"/>
            <a:chExt cx="3433438" cy="457663"/>
          </a:xfrm>
        </p:grpSpPr>
        <p:sp>
          <p:nvSpPr>
            <p:cNvPr id="141" name="Google Shape;141;p18"/>
            <p:cNvSpPr/>
            <p:nvPr/>
          </p:nvSpPr>
          <p:spPr>
            <a:xfrm>
              <a:off x="3834919" y="475888"/>
              <a:ext cx="801900" cy="209400"/>
            </a:xfrm>
            <a:prstGeom prst="rect">
              <a:avLst/>
            </a:prstGeom>
            <a:solidFill>
              <a:srgbClr val="A4C2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Aakash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4726141" y="475888"/>
              <a:ext cx="801900" cy="2094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Divakar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5617363" y="475888"/>
              <a:ext cx="801900" cy="209400"/>
            </a:xfrm>
            <a:prstGeom prst="rect">
              <a:avLst/>
            </a:prstGeom>
            <a:solidFill>
              <a:srgbClr val="FFE5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Miral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3834919" y="724150"/>
              <a:ext cx="801900" cy="2094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Riti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4726141" y="724150"/>
              <a:ext cx="801900" cy="209400"/>
            </a:xfrm>
            <a:prstGeom prst="rect">
              <a:avLst/>
            </a:prstGeom>
            <a:solidFill>
              <a:srgbClr val="F9CB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Saman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46" name="Google Shape;146;p18"/>
            <p:cNvSpPr txBox="1"/>
            <p:nvPr/>
          </p:nvSpPr>
          <p:spPr>
            <a:xfrm>
              <a:off x="2985825" y="603838"/>
              <a:ext cx="822900" cy="2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Hosted by: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5617363" y="724150"/>
              <a:ext cx="801900" cy="209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Proxima Nova"/>
                  <a:ea typeface="Proxima Nova"/>
                  <a:cs typeface="Proxima Nova"/>
                  <a:sym typeface="Proxima Nova"/>
                </a:rPr>
                <a:t>TBD</a:t>
              </a:r>
              <a:endParaRPr sz="10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